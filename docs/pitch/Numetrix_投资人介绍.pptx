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22960" y="1371600"/>
            <a:ext cx="566928" cy="56692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566928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508760" y="1417320"/>
            <a:ext cx="54864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Numetrix</a:t>
            </a:r>
          </a:p>
        </p:txBody>
      </p:sp>
      <p:sp>
        <p:nvSpPr>
          <p:cNvPr id="8" name="Rectangle 7"/>
          <p:cNvSpPr/>
          <p:nvPr/>
        </p:nvSpPr>
        <p:spPr>
          <a:xfrm>
            <a:off x="822960" y="2331720"/>
            <a:ext cx="3566160" cy="365760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22960" y="2395728"/>
            <a:ext cx="3108960" cy="310896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2377440"/>
            <a:ext cx="3108960" cy="34747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可验证  ·  可审计  ·  可复现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2971800"/>
            <a:ext cx="1033272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给「必须相信结果数字」的工程师与科学家</a:t>
            </a:r>
          </a:p>
          <a:p>
            <a:pPr algn="l">
              <a:lnSpc>
                <a:spcPct val="110000"/>
              </a:lnSpc>
            </a:pPr>
            <a:r>
              <a:rPr sz="3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打造的可验证数据分析 Agent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709160"/>
            <a:ext cx="987552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500" b="0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经典算法优先  ·  沙箱验证  ·  数据血缘可追溯 —— 把「看着对」变成「真的对」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98932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投资人介绍   |   2026   |   本材料全部界面均为产品真实截图（取自真实使用账号）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一句话看懂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7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别的工具让你「赌」数字对不对，Numetrix 让你能「证明」它对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57400"/>
            <a:ext cx="5074920" cy="1828800"/>
          </a:xfrm>
          <a:prstGeom prst="roundRect">
            <a:avLst/>
          </a:prstGeom>
          <a:solidFill>
            <a:srgbClr val="FEF2F2"/>
          </a:solidFill>
          <a:ln w="15240">
            <a:solidFill>
              <a:srgbClr val="FECA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通用 AI 数据工具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743200"/>
            <a:ext cx="4572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上传 CSV → 大模型现编一次性 pandas → 给你一个「看起来对」的数字。没有沉淀、没有版本、错了也不知道。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2057400"/>
            <a:ext cx="5074920" cy="1828800"/>
          </a:xfrm>
          <a:prstGeom prst="roundRect">
            <a:avLst/>
          </a:prstGeom>
          <a:solidFill>
            <a:srgbClr val="ECFDF5"/>
          </a:solidFill>
          <a:ln w="15240">
            <a:solidFill>
              <a:srgbClr val="A7F3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37960" y="2286000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Numetrix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7960" y="2743200"/>
            <a:ext cx="45720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</a:pPr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经过验证的经典算法优先，沙箱测试过的代码次之，大模型只在最后兜底——而且必须测试通过、你点头确认后才进入算法库。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4160520"/>
            <a:ext cx="10515600" cy="141732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4370832"/>
            <a:ext cx="100584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4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每一次计算都做三件事：</a:t>
            </a:r>
          </a:p>
          <a:p>
            <a:pPr algn="l">
              <a:lnSpc>
                <a:spcPct val="140000"/>
              </a:lnSpc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在「工作台」实时可见每一步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落库可追溯（谁、用哪个算法、什么参数）   </a:t>
            </a: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一键复现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02 / 21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问题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这个品类最大的抱怨，只有一句话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783080"/>
            <a:ext cx="10515600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88720" y="1965960"/>
            <a:ext cx="987552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2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“Looks confident, wrong number.”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743200"/>
            <a:ext cx="9875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「看着很自信，数字是错的」 —— G2 / Reddit / HN 上对 Julius、Hex、ChatGPT 数据分析的高频差评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为什么必然如此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2960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78992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大模型每次现编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78992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每个会话重新生成一段一次性 pandas，用完即弃。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25696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81728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没有沉淀与版本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81728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没有任何算法把自己的假设、单位、失效条件讲清楚。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28431" y="4114800"/>
            <a:ext cx="3310128" cy="1600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28431" y="4114800"/>
            <a:ext cx="3310128" cy="82296"/>
          </a:xfrm>
          <a:prstGeom prst="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84463" y="4343400"/>
            <a:ext cx="2834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错误代价极高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4463" y="4846320"/>
            <a:ext cx="283464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38% 的高管承认照着错误的 AI 数字做过决策（Deloitte 2024）。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" y="589788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当这个数字要发给客户、要冻结一版设计时，「看着对」比「没有答案」更危险。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03 / 21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为什么是现在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三个同时出现的信号，指向同一块无人服务的白地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822960" cy="132588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234440" y="1828800"/>
            <a:ext cx="411480" cy="132588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1828800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2029968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 NL→SQL / pandas 已被商品化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2487168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文本转 SQL 的开源龙头 Vanna AI 于 2026 年 3 月归档。底模型自己就能写得够好——「聊天生成查询」这层不再有护城河。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" y="3310128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22960" y="3310128"/>
            <a:ext cx="822960" cy="132588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234440" y="3310128"/>
            <a:ext cx="411480" cy="1325880"/>
          </a:xfrm>
          <a:prstGeom prst="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" y="3310128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3511296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工程师与科学家被系统性忽视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20240" y="3968496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电池测试、CAE/CFD、NVH 依赖领域算法：Savgol、Butterworth、Dixon Q、dV/dQ 峰追踪、敏感性分析——通用工具一个都不提供。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" y="4791456"/>
            <a:ext cx="10515600" cy="132588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22960" y="4791456"/>
            <a:ext cx="822960" cy="132588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234440" y="4791456"/>
            <a:ext cx="411480" cy="1325880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2960" y="4791456"/>
            <a:ext cx="822960" cy="13258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20240" y="4992624"/>
            <a:ext cx="9144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三重交叉 = 真正的白地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20240" y="5449824"/>
            <a:ext cx="914400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领域数据（传感器 / 仿真 / 时序） × 团队自带内部算法 × 信任比速度更重要。没有任何在位者同时覆盖这三点。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04 / 21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解法核心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可验证优先级：先用可信的，再用你的，最后才让 AI 兜底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12567" y="2468880"/>
            <a:ext cx="6766560" cy="100584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078327" y="2615184"/>
            <a:ext cx="60350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①  精选经典算法（可引用 · 带假设 / 单位 / 失效条件）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78327" y="3035808"/>
            <a:ext cx="6035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最先尝试。29 个内置经典算法，结果可被引用、可复现。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35527" y="3584448"/>
            <a:ext cx="5120640" cy="100584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01287" y="3730752"/>
            <a:ext cx="438912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②  你自己的算法（沙箱测试过）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01287" y="4151376"/>
            <a:ext cx="43891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团队多年的 MATLAB / Python 脚本，一次上传变成可复用工具。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58487" y="4700016"/>
            <a:ext cx="3474720" cy="100584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24247" y="4846320"/>
            <a:ext cx="27432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③  AI 生成代码（仅兜底）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24247" y="5266944"/>
            <a:ext cx="2743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1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前两者都没有时才动用，且必须测试通过 + 你确认。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5943600"/>
            <a:ext cx="11155680" cy="420624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02920" y="5943600"/>
            <a:ext cx="11155680" cy="4206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三道闸门：AST 白名单校验  ·  沙箱执行（超时 / 受限内置 / 断网）  ·  自动测试通过 + 人工确认才入库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05 / 21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产品总览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不是固定功能的数据工具，而是会自我扩展的可验证 Agent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600200"/>
            <a:ext cx="10515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缺能力时 AI 当场写；好结果你可以「结晶」成可复用资产。越用越强的知识飞轮。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78992" y="2404872"/>
            <a:ext cx="502920" cy="50292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7899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多格式解析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txt / Excel / PDF / CGNS… 未知格式由 AI 现写解析器，多 sheet 自动拆表。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4828032" y="2404872"/>
            <a:ext cx="502920" cy="50292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2803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经典 + AI 算法库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2803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个内置经典算法；AI 写的算法沙箱测试通过即自动注册、当轮可用。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21040" y="214884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577072" y="2404872"/>
            <a:ext cx="502920" cy="50292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577072" y="238658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235440" y="244144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交互式可视化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77072" y="306324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AI 生成图表规格，前端可自选 x / y / 系列 / 图型；多数据集叠加对比。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1078992" y="4325112"/>
            <a:ext cx="502920" cy="50292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7899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3736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流程 → 模板 → 小程序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7899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把一次对话编排沉淀成可复用流水线，再发布成给非专家用的小程序。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0" y="4069080"/>
            <a:ext cx="3520440" cy="17373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828032" y="4325112"/>
            <a:ext cx="502920" cy="50292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828032" y="4306824"/>
            <a:ext cx="502920" cy="502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0" y="4361688"/>
            <a:ext cx="24688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数据血缘 DAG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828032" y="4983480"/>
            <a:ext cx="301752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每一步都物化成可追溯的派生数据集 —— 可复现，即可验证。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321040" y="4069080"/>
            <a:ext cx="3520440" cy="173736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95360" y="4389120"/>
            <a:ext cx="301752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600"/>
              </a:spcAft>
            </a:pPr>
            <a:r>
              <a:rPr sz="12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核心信条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缺了就生成，好了就留下，</a:t>
            </a:r>
          </a:p>
          <a:p>
            <a:pPr algn="l">
              <a:lnSpc>
                <a:spcPct val="130000"/>
              </a:lnSpc>
            </a:pPr>
            <a:r>
              <a:rPr sz="13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一切都可验证。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06 / 21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①  对话式分析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用大白话提问，Agent 多步编排，工作台全程透明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3_chat_pip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自然语言驱动的 ReAct 多步编排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「画电压曲线」「哪几列影响最大」——自动选数据、选算法、串联执行。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右侧「工作台」实时回放每一步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每次 LLM 调用、工具执行、报错与重试都显示，没有黑箱。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结论给可验证数字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如回归给出 R²=0.9999 与 RMSE，而非一句模糊判断。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设计原则：没有沉默的步骤 —— 任何一步都既有可见事件、又有落库记录。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07 / 21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②  经典算法库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29 个内置经典算法，还有一条完全不依赖 AI 的可验证路径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1_algo_run_pa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六大类 29 个算法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滤波 10 · 预处理 6 · 回归/拟合 5 · 降维 3 · 结构 4 · 自定义 1。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纯手动运行（零 LLM）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选算法 → 看原始数据 → 填参数 → 执行 → 解读 / 导出，全程可审计。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Savgol / Butterworth / Dixon Q…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正是通用工具不给、工程师每天要用的领域算法。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对要把数字发给客户的工程师，「可手动、可复现」本身就是核心卖点。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08 / 21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③  三条自扩展 codegen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缺能力时 AI 当场写：解析器 · 算法 · 可视化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0_chat_cae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未知格式 → AI 写解析器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遇到没见过的文件格式，AI 现写 parser，校验通过才落地。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缺算法 → AI 写算法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沙箱自动测试通过即注册为可调用工具，同一轮对话就能用。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缺图 → AI 写可视化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固定图表表达不了时，AI 写出图规格，前端仍可交互改 x/y/系列。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三条 codegen + 自动测试，是「自我扩展」从愿景变成可用的关键。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09 / 21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④  数据血缘 DAG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数据是有血缘的图，不是一堆文件 —— 可复现即可验证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0_datasets_line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源 / 派生 / 中间结果分层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每一次变换都物化成带血缘的派生数据集（来自谁、什么算法、什么参数）。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逐阶段可查、可对比、可分支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原始 vs 处理后随时叠加对比；任一中间态都能留存或回收。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 = 可复现 = 可验证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这正是让结果「可信」的工程底座。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中间结果默认临时、可一键清理（本账号已积累 14 个可回收中间集）。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10 / 21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⑤  流程 → 模板 → 小程序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把一次对话沉淀成可复用流水线，再发布给非专家用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33_template_canva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35508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635508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4768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可视化流程画布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拖拽编排：输入 → 去噪 → 异常检测 → 归一化，逐节点可改参。</a:t>
            </a:r>
          </a:p>
        </p:txBody>
      </p:sp>
      <p:sp>
        <p:nvSpPr>
          <p:cNvPr id="10" name="Oval 9"/>
          <p:cNvSpPr/>
          <p:nvPr/>
        </p:nvSpPr>
        <p:spPr>
          <a:xfrm>
            <a:off x="635508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4768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保存为流程模板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一套处理逻辑存成模板，换数据集一键回放，逐步落为派生数据。</a:t>
            </a:r>
          </a:p>
        </p:txBody>
      </p:sp>
      <p:sp>
        <p:nvSpPr>
          <p:cNvPr id="12" name="Oval 11"/>
          <p:cNvSpPr/>
          <p:nvPr/>
        </p:nvSpPr>
        <p:spPr>
          <a:xfrm>
            <a:off x="635508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发布成「小程序」运行模式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非专家只需选数据 + 填暴露的参数 + 跑，并看到可信的处理过程。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5508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这条「经验 → 资产」的链路，是知识飞轮与切换成本的来源。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11 / 21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能力 ⑥  垂直纵深：CAE / CFD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6070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2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已经能啃通用工具啃不动的真实仿真数据</a:t>
            </a:r>
          </a:p>
        </p:txBody>
      </p:sp>
      <p:sp>
        <p:nvSpPr>
          <p:cNvPr id="5" name="Rectangle 4"/>
          <p:cNvSpPr/>
          <p:nvPr/>
        </p:nvSpPr>
        <p:spPr>
          <a:xfrm>
            <a:off x="6300216" y="1911095"/>
            <a:ext cx="5093208" cy="3232708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2_dataset_mesh3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5080" y="1965960"/>
            <a:ext cx="4983480" cy="312298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1874519"/>
            <a:ext cx="4983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功能要点</a:t>
            </a:r>
          </a:p>
        </p:txBody>
      </p:sp>
      <p:sp>
        <p:nvSpPr>
          <p:cNvPr id="8" name="Oval 7"/>
          <p:cNvSpPr/>
          <p:nvPr/>
        </p:nvSpPr>
        <p:spPr>
          <a:xfrm>
            <a:off x="822960" y="2350008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15568" y="2258568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直接读 CGNS 仿真算例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真实算例 ysy：69,328 个网格点 × 88 个物理场（压力/速度/马赫/温度…）。</a:t>
            </a:r>
          </a:p>
        </p:txBody>
      </p:sp>
      <p:sp>
        <p:nvSpPr>
          <p:cNvPr id="10" name="Oval 9"/>
          <p:cNvSpPr/>
          <p:nvPr/>
        </p:nvSpPr>
        <p:spPr>
          <a:xfrm>
            <a:off x="822960" y="3282696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15568" y="3191256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交互式 3D 点云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按任意物理场着色、轨道缩放，几何直接来自已存数据表。</a:t>
            </a:r>
          </a:p>
        </p:txBody>
      </p:sp>
      <p:sp>
        <p:nvSpPr>
          <p:cNvPr id="12" name="Oval 11"/>
          <p:cNvSpPr/>
          <p:nvPr/>
        </p:nvSpPr>
        <p:spPr>
          <a:xfrm>
            <a:off x="822960" y="4215384"/>
            <a:ext cx="118872" cy="118872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15568" y="4123944"/>
            <a:ext cx="46634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200"/>
              </a:spcAft>
            </a:pPr>
            <a:r>
              <a:rPr sz="13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通用 AI 工具做不到</a:t>
            </a:r>
          </a:p>
          <a:p>
            <a:pPr algn="l">
              <a:lnSpc>
                <a:spcPct val="13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该算例为 ADF 格式，meshio/h5py 失败；本产品用 VTK 0.2 秒读出。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2960" y="5806440"/>
            <a:ext cx="4983480" cy="566928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5806440"/>
            <a:ext cx="457200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楔子是电池测试，CAE/CFD 是已验证的第二垂直 —— 同一套自我扩展引擎复用。</a:t>
            </a:r>
          </a:p>
        </p:txBody>
      </p:sp>
      <p:sp>
        <p:nvSpPr>
          <p:cNvPr id="16" name="Rectangle 15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12 / 21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工程与安全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能给工程师用，靠的是这些不性感但关键的底座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22960" y="1828800"/>
            <a:ext cx="109728" cy="196596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18872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安全沙箱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跨平台 Python 子进程沙箱：AST 白名单（拒 import os / eval）+ 墙钟超时 + 受限内置 + 尽力断网。验证过：杀死死循环、拒绝恶意导入、内存超限干净退出。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355080" y="1828800"/>
            <a:ext cx="109728" cy="196596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20840" y="205740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多模型 / BYOK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720840" y="254203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JSON-Action ReAct 循环，兼容任意 OpenAI 风格接口。默认 DeepSeek，可换 OpenAI / Claude / 本地 Ollama；用户可自带 Key。不绑死单一供应商。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822960" y="3977639"/>
            <a:ext cx="109728" cy="196596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18872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一键部署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8872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多阶段 Docker 镜像 + nginx 反代 + 持久卷；deploy.sh 自动识别中国网络切 daocloud 镜像。阿里云 ECS / 腾讯云 CVM 已验证，一条命令上线。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977639"/>
            <a:ext cx="4983480" cy="1965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55080" y="3977639"/>
            <a:ext cx="109728" cy="1965960"/>
          </a:xfrm>
          <a:prstGeom prst="roundRect">
            <a:avLst/>
          </a:prstGeom>
          <a:solidFill>
            <a:srgbClr val="312E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4206240"/>
            <a:ext cx="44805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可平滑升级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4690872"/>
            <a:ext cx="443484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无状态 API + sqlite / parquet 起步，可原位换 Postgres + S3。新表 / 新列迁移安全，已在演示库验证多次。</a:t>
            </a:r>
          </a:p>
        </p:txBody>
      </p:sp>
      <p:sp>
        <p:nvSpPr>
          <p:cNvPr id="21" name="Rectangle 20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13 / 21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差异化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和通用 AI 数据工具，到底差在哪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783080"/>
            <a:ext cx="2011680" cy="5349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834640" y="1783080"/>
            <a:ext cx="4434840" cy="534924"/>
          </a:xfrm>
          <a:prstGeom prst="rect">
            <a:avLst/>
          </a:prstGeom>
          <a:solidFill>
            <a:srgbClr val="3341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999232" y="178308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通用工具（Julius / Hex / ChatGPT）</a:t>
            </a:r>
          </a:p>
        </p:txBody>
      </p:sp>
      <p:sp>
        <p:nvSpPr>
          <p:cNvPr id="8" name="Rectangle 7"/>
          <p:cNvSpPr/>
          <p:nvPr/>
        </p:nvSpPr>
        <p:spPr>
          <a:xfrm>
            <a:off x="7269479" y="1783080"/>
            <a:ext cx="4069080" cy="534924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34071" y="178308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2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Numetrix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" y="2318004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31800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结果可信度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34640" y="2318004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99232" y="231800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大模型现编，常「看着对，数字错」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269479" y="231800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34071" y="231800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经典算法优先，沙箱验证 + 可复现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22960" y="2852928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285292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领域算法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34640" y="2852928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99232" y="285292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几乎没有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69479" y="285292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434071" y="285292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Savgol / Butterworth / Dixon / 敏感性 / dV·dQ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22960" y="3387852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7552" y="3387852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你的内部脚本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34640" y="3387852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99232" y="3387852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无处安放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269479" y="3387852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34071" y="3387852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一次上传 → 沙箱化、版本化、团队可调用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22960" y="3922776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87552" y="3922776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可追溯性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34640" y="3922776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99232" y="3922776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用完即弃，无血缘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269479" y="3922776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434071" y="3922776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数据血缘 DAG，每步可查可复现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2960" y="4457700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87552" y="4457700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沉淀复用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34640" y="4457700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99232" y="4457700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无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269479" y="4457700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434071" y="4457700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流程模板 + 可发布小程序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2960" y="4992624"/>
            <a:ext cx="201168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87552" y="4992624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仿真 / 网格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834640" y="4992624"/>
            <a:ext cx="4434840" cy="534924"/>
          </a:xfrm>
          <a:prstGeom prst="rect">
            <a:avLst/>
          </a:prstGeom>
          <a:solidFill>
            <a:srgbClr val="F8FAFC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999232" y="4992624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不支持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269479" y="4992624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434071" y="4992624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CGNS / VTK，3D 点云，已读 6.9 万点算例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22960" y="5527548"/>
            <a:ext cx="201168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87552" y="5527548"/>
            <a:ext cx="17373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定位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834640" y="5527548"/>
            <a:ext cx="4434840" cy="534924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999232" y="5527548"/>
            <a:ext cx="416052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通用「人人的 AI 数据分析」</a:t>
            </a:r>
          </a:p>
        </p:txBody>
      </p:sp>
      <p:sp>
        <p:nvSpPr>
          <p:cNvPr id="50" name="Rectangle 49"/>
          <p:cNvSpPr/>
          <p:nvPr/>
        </p:nvSpPr>
        <p:spPr>
          <a:xfrm>
            <a:off x="7269479" y="5527548"/>
            <a:ext cx="4069080" cy="534924"/>
          </a:xfrm>
          <a:prstGeom prst="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434071" y="5527548"/>
            <a:ext cx="3794760" cy="53492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1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垂直工程师 / 科学家，从电池测试切入</a:t>
            </a:r>
          </a:p>
        </p:txBody>
      </p:sp>
      <p:sp>
        <p:nvSpPr>
          <p:cNvPr id="52" name="Rectangle 51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14 / 21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一眼看清定位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右上角那个象限——可验证 × 领域深度——只有我们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773936"/>
            <a:ext cx="7379208" cy="4469704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posi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28800"/>
            <a:ext cx="7269480" cy="4359976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412480" y="1920240"/>
            <a:ext cx="2926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两条轴，定义这个品类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412480" y="2395728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0" y="2395728"/>
            <a:ext cx="91440" cy="120700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0" y="2542032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横轴 · 领域算法深度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2962656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通用聊天/BI 工具几乎没有领域算法；开源电池工具有深度但没产品化。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412480" y="3730752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8412480" y="3730752"/>
            <a:ext cx="91440" cy="120700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686800" y="3877056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纵轴 · 结果可验证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4297680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大模型现编 = 看着对；可验证 = 经典算法 + 沙箱 + 血缘可复现。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412480" y="5065776"/>
            <a:ext cx="2971800" cy="120700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8412480" y="5065776"/>
            <a:ext cx="91440" cy="120700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0" y="5212080"/>
            <a:ext cx="2560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右上 = 无人服务的白地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5632704"/>
            <a:ext cx="2606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同时做到「深」与「可信」，且把它产品化成 Agent —— 这就是 Numetrix。</a:t>
            </a:r>
          </a:p>
        </p:txBody>
      </p:sp>
      <p:sp>
        <p:nvSpPr>
          <p:cNvPr id="20" name="Rectangle 1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15 / 21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市场与楔子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从电池测试工程师切入：痛得具体、买得起、在位者分散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5486400" cy="402336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43000" y="2057400"/>
            <a:ext cx="4937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V1 楔子：电池测试工程师</a:t>
            </a:r>
          </a:p>
        </p:txBody>
      </p:sp>
      <p:sp>
        <p:nvSpPr>
          <p:cNvPr id="7" name="Oval 6"/>
          <p:cNvSpPr/>
          <p:nvPr/>
        </p:nvSpPr>
        <p:spPr>
          <a:xfrm>
            <a:off x="1143000" y="2660904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2569464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2025–2030 全球在建 100+ 超级工厂，需求最快增长</a:t>
            </a:r>
          </a:p>
        </p:txBody>
      </p:sp>
      <p:sp>
        <p:nvSpPr>
          <p:cNvPr id="9" name="Oval 8"/>
          <p:cNvSpPr/>
          <p:nvPr/>
        </p:nvSpPr>
        <p:spPr>
          <a:xfrm>
            <a:off x="1143000" y="3447288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71600" y="3355848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多厂商循环仪（Maccor / Arbin / Neware）数据碎片化是结构性问题——厂商不会自己修</a:t>
            </a:r>
          </a:p>
        </p:txBody>
      </p:sp>
      <p:sp>
        <p:nvSpPr>
          <p:cNvPr id="11" name="Oval 10"/>
          <p:cNvSpPr/>
          <p:nvPr/>
        </p:nvSpPr>
        <p:spPr>
          <a:xfrm>
            <a:off x="1143000" y="4233672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142232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买家有钱：基础年薪 $90–160k，$200/席/月 几乎无感</a:t>
            </a:r>
          </a:p>
        </p:txBody>
      </p:sp>
      <p:sp>
        <p:nvSpPr>
          <p:cNvPr id="13" name="Oval 12"/>
          <p:cNvSpPr/>
          <p:nvPr/>
        </p:nvSpPr>
        <p:spPr>
          <a:xfrm>
            <a:off x="1143000" y="5020056"/>
            <a:ext cx="109728" cy="109728"/>
          </a:xfrm>
          <a:prstGeom prst="ellipse">
            <a:avLst/>
          </a:prstGeom>
          <a:solidFill>
            <a:srgbClr val="818C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71600" y="4928616"/>
            <a:ext cx="466344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2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在位者分散：Voltaiq 十年融资 &lt; $15M；其余多为纯开源 ETL；实际默认仍是 Excel + MATLAB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1828800"/>
            <a:ext cx="4846320" cy="402336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12280" y="2057400"/>
            <a:ext cx="429768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接下来的垂直（同一引擎复用）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12280" y="2651760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812280" y="2651760"/>
            <a:ext cx="91440" cy="9144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086600" y="2770632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/ CFD 后处理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86600" y="3154680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参数化 / DOE 研究随云算力增长；已能读 CGNS + 3D 点云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12280" y="3675887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6812280" y="3675887"/>
            <a:ext cx="91440" cy="9144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86600" y="3794759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NVH / 耐久测试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86600" y="4178807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部落式 MATLAB 工具箱遍地，Simcenter 被嫌弃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12280" y="4700016"/>
            <a:ext cx="4206240" cy="914400"/>
          </a:xfrm>
          <a:prstGeom prst="round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6812280" y="4700016"/>
            <a:ext cx="91440" cy="9144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86600" y="481888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仪器 / 试验数据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86600" y="520293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时序 + 传感器，天然契合可验证算法库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16 / 21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商业模式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混合定价（席位 + 用量），BYOK 作为企业解锁项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2615184" cy="365760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78992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Free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$0</a:t>
            </a:r>
          </a:p>
        </p:txBody>
      </p:sp>
      <p:sp>
        <p:nvSpPr>
          <p:cNvPr id="8" name="Rectangle 7"/>
          <p:cNvSpPr/>
          <p:nvPr/>
        </p:nvSpPr>
        <p:spPr>
          <a:xfrm>
            <a:off x="1078992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78992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每月 50 次运行 · 内置库 · 支持 BYOK · 单用户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78992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漏斗：LinkedIn 上每个电池 PhD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4448" y="1828800"/>
            <a:ext cx="2615184" cy="365760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840480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$39 / 席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840480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840480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2,000 次/月 · AI 写码 · 保存/版本化自有算法 · 历史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独立工程师 · 小实验室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45936" y="1828800"/>
            <a:ext cx="2615184" cy="36576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601968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Team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01968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$99 / 席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601968" y="3200400"/>
            <a:ext cx="2103120" cy="10972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1968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SSO-lite · 审计日志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实验室 / 部门（最少 5 席）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107424" y="1828800"/>
            <a:ext cx="2615184" cy="365760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363455" y="2084831"/>
            <a:ext cx="219456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Enterprise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63455" y="2542032"/>
            <a:ext cx="21945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$40k+/年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363455" y="3200400"/>
            <a:ext cx="2103120" cy="10972"/>
          </a:xfrm>
          <a:prstGeom prst="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363455" y="3337560"/>
            <a:ext cx="224028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1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VPC/私有化 · SSO/RBAC · 垂直算法包 · 专属 SE · SLA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63455" y="4892040"/>
            <a:ext cx="22402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050" b="1">
                <a:solidFill>
                  <a:srgbClr val="94A3B8"/>
                </a:solidFill>
                <a:latin typeface="Microsoft YaHei"/>
                <a:ea typeface="Microsoft YaHei"/>
                <a:cs typeface="Microsoft YaHei"/>
              </a:rPr>
              <a:t>OEM · 大电芯厂 · 世界 500 强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" y="576072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为什么混合？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  Bessemer 2026 数据：纯席位制已从 21% 降到 15%，混合制 41% 并在增长。</a:t>
            </a:r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（电池 / CAE / NVH 各 +$30/席）按 JetBrains 插件包方式售卖。</a:t>
            </a:r>
          </a:p>
        </p:txBody>
      </p:sp>
      <p:sp>
        <p:nvSpPr>
          <p:cNvPr id="30" name="Rectangle 29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17 / 21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护城河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不是 GPT 套壳：四条护城河 + 一个会复利的飞轮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1097280" y="2103120"/>
            <a:ext cx="457200" cy="457200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69164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精选算法库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领域专家审定、可引用、显式标注假设/单位/不确定性。没有 SME 团队难以复刻。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55080" y="182880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629400" y="2103120"/>
            <a:ext cx="457200" cy="457200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223760" y="208483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用户算法「墓地复活」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29400" y="267004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每个团队的部落式 MATLAB 脚本，一次上传变成沙箱化、版本化、可复用工具。切换成本 = 多年内部 IP 只跑在我们这。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1097280" y="3977639"/>
            <a:ext cx="457200" cy="457200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9164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垂直算法包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728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电池包 / CAE 包 / NVH 包，由后续聘请的领域 SME 审定，溢价售卖。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355080" y="3703320"/>
            <a:ext cx="4983480" cy="16916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629400" y="3977639"/>
            <a:ext cx="457200" cy="457200"/>
          </a:xfrm>
          <a:prstGeom prst="roundRect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223760" y="3959352"/>
            <a:ext cx="39319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反馈飞轮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4544568"/>
            <a:ext cx="4526280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1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每个被批准的算法、每次用户纠正都进提示词库；本垂直的 AI 写码成功率逐月复利——通用聊天机器人做不到。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" y="5577840"/>
            <a:ext cx="10515600" cy="777240"/>
          </a:xfrm>
          <a:prstGeom prst="round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97280" y="557784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防杀点：</a:t>
            </a:r>
            <a:r>
              <a:rPr sz="12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非 GPT 套壳（有精选数据 + 沙箱验证）· 明确垂直 · 混合定价 · 多模型不绑死 —— 正对 2026 创始人调研里那几条「秒杀」雷区。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18 / 21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路线图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从已建成的 MVP，到种子轮的 18 个月</a:t>
            </a:r>
          </a:p>
        </p:txBody>
      </p:sp>
      <p:sp>
        <p:nvSpPr>
          <p:cNvPr id="5" name="Rectangle 4"/>
          <p:cNvSpPr/>
          <p:nvPr/>
        </p:nvSpPr>
        <p:spPr>
          <a:xfrm>
            <a:off x="1005840" y="3246120"/>
            <a:ext cx="10149840" cy="36576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86968" y="3127248"/>
            <a:ext cx="237744" cy="237744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Q2 2026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MVP 已完成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29 算法 · 沙箱 · AI 写码 · 对话 Agent · BYOK · Docker 部署</a:t>
            </a:r>
          </a:p>
        </p:txBody>
      </p:sp>
      <p:sp>
        <p:nvSpPr>
          <p:cNvPr id="11" name="Oval 10"/>
          <p:cNvSpPr/>
          <p:nvPr/>
        </p:nvSpPr>
        <p:spPr>
          <a:xfrm>
            <a:off x="342442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583180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Q3 2026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83180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7462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电池包 v1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7462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Maccor/Arbin/Neware 解析 + dV/dQ + ICA + GITT；签 5 个共建客户</a:t>
            </a:r>
          </a:p>
        </p:txBody>
      </p:sp>
      <p:sp>
        <p:nvSpPr>
          <p:cNvPr id="16" name="Oval 15"/>
          <p:cNvSpPr/>
          <p:nvPr/>
        </p:nvSpPr>
        <p:spPr>
          <a:xfrm>
            <a:off x="5961888" y="3127248"/>
            <a:ext cx="237744" cy="237744"/>
          </a:xfrm>
          <a:prstGeom prst="ellipse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20640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Q4 2026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120640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21208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Team GA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1208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共享算法库 · 定时运行 · 首批付费 · Postgres + S3</a:t>
            </a:r>
          </a:p>
        </p:txBody>
      </p:sp>
      <p:sp>
        <p:nvSpPr>
          <p:cNvPr id="21" name="Oval 20"/>
          <p:cNvSpPr/>
          <p:nvPr/>
        </p:nvSpPr>
        <p:spPr>
          <a:xfrm>
            <a:off x="8499347" y="3127248"/>
            <a:ext cx="237744" cy="237744"/>
          </a:xfrm>
          <a:prstGeom prst="ellipse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58099" y="3456432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Q1 2027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658099" y="384048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49540" y="393192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CAE 包 v1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749540" y="431596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OpenFOAM/Fluent 解析 + DOE 后处理；AWS / 阿里云市场上架</a:t>
            </a:r>
          </a:p>
        </p:txBody>
      </p:sp>
      <p:sp>
        <p:nvSpPr>
          <p:cNvPr id="26" name="Oval 25"/>
          <p:cNvSpPr/>
          <p:nvPr/>
        </p:nvSpPr>
        <p:spPr>
          <a:xfrm>
            <a:off x="11036807" y="3127248"/>
            <a:ext cx="237744" cy="237744"/>
          </a:xfrm>
          <a:prstGeom prst="ellipse">
            <a:avLst/>
          </a:prstGeom>
          <a:solidFill>
            <a:srgbClr val="DC262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195559" y="1783080"/>
            <a:ext cx="19202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300" b="1">
                <a:solidFill>
                  <a:srgbClr val="DC2626"/>
                </a:solidFill>
                <a:latin typeface="Microsoft YaHei"/>
                <a:ea typeface="Microsoft YaHei"/>
                <a:cs typeface="Microsoft YaHei"/>
              </a:rPr>
              <a:t>Q2 2027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95559" y="2194560"/>
            <a:ext cx="1920240" cy="868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87000" y="2286000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25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种子轮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87000" y="2670048"/>
            <a:ext cx="17373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5000"/>
              </a:lnSpc>
            </a:pPr>
            <a:r>
              <a:rPr sz="9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10 个付费 logo · NDR&gt;120%；融 $3–5M @ $15–20M 投后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22960" y="5212080"/>
            <a:ext cx="10515600" cy="914400"/>
          </a:xfrm>
          <a:prstGeom prst="roundRect">
            <a:avLst/>
          </a:prstGeom>
          <a:solidFill>
            <a:srgbClr val="ECFD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97280" y="5349240"/>
            <a:ext cx="100584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Aft>
                <a:spcPts val="300"/>
              </a:spcAft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现在就能验证的事实：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完整产品（非原型）已建成并跑在真实环境——后端 FastAPI + 前端 Next.js 15 + Docker 栈，一条命令上线阿里云/腾讯云。</a:t>
            </a:r>
          </a:p>
          <a:p>
            <a:pPr algn="l">
              <a:lnSpc>
                <a:spcPct val="135000"/>
              </a:lnSpc>
            </a:pPr>
            <a:r>
              <a:rPr sz="125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演示账号已积累：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24 个数据集 · 48 段对话 · 7 个流程模板 · 真实 CGNS 仿真算例。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19 / 21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66928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财务与执行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91440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4000"/>
              </a:lnSpc>
            </a:pPr>
            <a:r>
              <a:rPr sz="3000" b="1">
                <a:solidFill>
                  <a:srgbClr val="0F172A"/>
                </a:solidFill>
                <a:latin typeface="Microsoft YaHei"/>
                <a:ea typeface="Microsoft YaHei"/>
                <a:cs typeface="Microsoft YaHei"/>
              </a:rPr>
              <a:t>12 个月走到约 $1M ARR——附四个收入桶拆解</a:t>
            </a:r>
          </a:p>
        </p:txBody>
      </p:sp>
      <p:sp>
        <p:nvSpPr>
          <p:cNvPr id="5" name="Rectangle 4"/>
          <p:cNvSpPr/>
          <p:nvPr/>
        </p:nvSpPr>
        <p:spPr>
          <a:xfrm>
            <a:off x="768096" y="1819655"/>
            <a:ext cx="6967728" cy="3724396"/>
          </a:xfrm>
          <a:prstGeom prst="rect">
            <a:avLst/>
          </a:prstGeom>
          <a:solidFill>
            <a:srgbClr val="FFFFFF"/>
          </a:solidFill>
          <a:ln w="1524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chart_ar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874519"/>
            <a:ext cx="6858000" cy="3614668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8001000" y="1920240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8001000" y="1920240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2039112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已建成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239572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完整产品端到端跑通，非半成品原型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01000" y="2898648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8001000" y="2898648"/>
            <a:ext cx="91440" cy="886968"/>
          </a:xfrm>
          <a:prstGeom prst="roundRect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275320" y="3017520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059669"/>
                </a:solidFill>
                <a:latin typeface="Microsoft YaHei"/>
                <a:ea typeface="Microsoft YaHei"/>
                <a:cs typeface="Microsoft YaHei"/>
              </a:rPr>
              <a:t>已测试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75320" y="3374136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后端 smoke 全过 · 前端 0 TS 错误 · nginx 端到端走通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01000" y="3877056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001000" y="3877056"/>
            <a:ext cx="91440" cy="886968"/>
          </a:xfrm>
          <a:prstGeom prst="round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75320" y="3995928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4F46E5"/>
                </a:solidFill>
                <a:latin typeface="Microsoft YaHei"/>
                <a:ea typeface="Microsoft YaHei"/>
                <a:cs typeface="Microsoft YaHei"/>
              </a:rPr>
              <a:t>已部署路径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20" y="4352544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一键脚本，阿里云 / 腾讯云已验证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001000" y="4855464"/>
            <a:ext cx="3337560" cy="886968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01000" y="4855464"/>
            <a:ext cx="91440" cy="886968"/>
          </a:xfrm>
          <a:prstGeom prst="round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4974336"/>
            <a:ext cx="2971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B45309"/>
                </a:solidFill>
                <a:latin typeface="Microsoft YaHei"/>
                <a:ea typeface="Microsoft YaHei"/>
                <a:cs typeface="Microsoft YaHei"/>
              </a:rPr>
              <a:t>真实使用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5330952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05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演示库 24 数据集 / 48 对话 / 7 模板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669280"/>
            <a:ext cx="10515600" cy="777240"/>
          </a:xfrm>
          <a:prstGeom prst="roundRect">
            <a:avLst/>
          </a:prstGeom>
          <a:solidFill>
            <a:srgbClr val="EE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97280" y="5669280"/>
            <a:ext cx="10058400" cy="7772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40000"/>
              </a:lnSpc>
            </a:pPr>
            <a:r>
              <a:rPr sz="1250" b="1">
                <a:solidFill>
                  <a:srgbClr val="312E81"/>
                </a:solidFill>
                <a:latin typeface="Microsoft YaHei"/>
                <a:ea typeface="Microsoft YaHei"/>
                <a:cs typeface="Microsoft YaHei"/>
              </a:rPr>
              <a:t>达成前提：</a:t>
            </a:r>
            <a:r>
              <a:rPr sz="1200" b="0">
                <a:solidFill>
                  <a:srgbClr val="334155"/>
                </a:solidFill>
                <a:latin typeface="Microsoft YaHei"/>
                <a:ea typeface="Microsoft YaHei"/>
                <a:cs typeface="Microsoft YaHei"/>
              </a:rPr>
              <a:t>Q3’26 签下 5 个共建客户（楔子明确，约 70% 把握）；OSS 一年内 1k★；1 个共建客户 Q1’27 转 $150k 企业单。数值为前向目标。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20 / 21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300" b="1">
                <a:solidFill>
                  <a:srgbClr val="C7D2FE"/>
                </a:solidFill>
                <a:latin typeface="Microsoft YaHei"/>
                <a:ea typeface="Microsoft YaHei"/>
                <a:cs typeface="Microsoft YaHei"/>
              </a:rPr>
              <a:t>融资 · The Ask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051560"/>
            <a:ext cx="10515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26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 $3–5M @ $15–20M 投后，把已验证的引擎压进电池垂直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资金用途</a:t>
            </a:r>
          </a:p>
        </p:txBody>
      </p:sp>
      <p:sp>
        <p:nvSpPr>
          <p:cNvPr id="7" name="Oval 6"/>
          <p:cNvSpPr/>
          <p:nvPr/>
        </p:nvSpPr>
        <p:spPr>
          <a:xfrm>
            <a:off x="822960" y="2798064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2715768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电池领域 SME + 算法包 v1（内容护城河）</a:t>
            </a:r>
          </a:p>
        </p:txBody>
      </p:sp>
      <p:sp>
        <p:nvSpPr>
          <p:cNvPr id="9" name="Oval 8"/>
          <p:cNvSpPr/>
          <p:nvPr/>
        </p:nvSpPr>
        <p:spPr>
          <a:xfrm>
            <a:off x="822960" y="3401568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3319272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2 名共建客户成功 + 销售工程师</a:t>
            </a:r>
          </a:p>
        </p:txBody>
      </p:sp>
      <p:sp>
        <p:nvSpPr>
          <p:cNvPr id="11" name="Oval 10"/>
          <p:cNvSpPr/>
          <p:nvPr/>
        </p:nvSpPr>
        <p:spPr>
          <a:xfrm>
            <a:off x="822960" y="4005072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922776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OSS 算法 SDK 开源，做自下而上漏斗</a:t>
            </a:r>
          </a:p>
        </p:txBody>
      </p:sp>
      <p:sp>
        <p:nvSpPr>
          <p:cNvPr id="13" name="Oval 12"/>
          <p:cNvSpPr/>
          <p:nvPr/>
        </p:nvSpPr>
        <p:spPr>
          <a:xfrm>
            <a:off x="822960" y="4608576"/>
            <a:ext cx="109728" cy="109728"/>
          </a:xfrm>
          <a:prstGeom prst="ellipse">
            <a:avLst/>
          </a:prstGeom>
          <a:solidFill>
            <a:srgbClr val="0596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4526280"/>
            <a:ext cx="48463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</a:pPr>
            <a:r>
              <a:rPr sz="125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Postgres/S3、定时运行、SSO 等团队版能力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09360" y="2286000"/>
            <a:ext cx="5029200" cy="3200400"/>
          </a:xfrm>
          <a:prstGeom prst="roundRect">
            <a:avLst/>
          </a:prstGeom>
          <a:solidFill>
            <a:srgbClr val="1E1B4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487168"/>
            <a:ext cx="4572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种子轮时我们将拿出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0" y="297180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12280" y="288036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$500k–$1M ARR</a:t>
            </a:r>
          </a:p>
        </p:txBody>
      </p:sp>
      <p:sp>
        <p:nvSpPr>
          <p:cNvPr id="19" name="Oval 18"/>
          <p:cNvSpPr/>
          <p:nvPr/>
        </p:nvSpPr>
        <p:spPr>
          <a:xfrm>
            <a:off x="6583680" y="3474720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812280" y="338328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5–10 个企业 logo（含 2 个知名品牌）</a:t>
            </a:r>
          </a:p>
        </p:txBody>
      </p:sp>
      <p:sp>
        <p:nvSpPr>
          <p:cNvPr id="21" name="Oval 20"/>
          <p:cNvSpPr/>
          <p:nvPr/>
        </p:nvSpPr>
        <p:spPr>
          <a:xfrm>
            <a:off x="6583680" y="397763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12280" y="388620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NDR &gt; 120%（验证「落地 + 扩张」）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0" y="448055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438912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AI 写码成功率逐月上行（护城河数据）</a:t>
            </a:r>
          </a:p>
        </p:txBody>
      </p:sp>
      <p:sp>
        <p:nvSpPr>
          <p:cNvPr id="25" name="Oval 24"/>
          <p:cNvSpPr/>
          <p:nvPr/>
        </p:nvSpPr>
        <p:spPr>
          <a:xfrm>
            <a:off x="6583680" y="4983479"/>
            <a:ext cx="91440" cy="91440"/>
          </a:xfrm>
          <a:prstGeom prst="ellipse">
            <a:avLst/>
          </a:prstGeom>
          <a:solidFill>
            <a:srgbClr val="6EE7B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12280" y="4892040"/>
            <a:ext cx="43891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E2E8F0"/>
                </a:solidFill>
                <a:latin typeface="Microsoft YaHei"/>
                <a:ea typeface="Microsoft YaHei"/>
                <a:cs typeface="Microsoft YaHei"/>
              </a:rPr>
              <a:t>1 个已开 电池包 + 1 个在做 CAE 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94360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</a:pPr>
            <a:r>
              <a:rPr sz="1300" b="1">
                <a:solidFill>
                  <a:srgbClr val="818CF8"/>
                </a:solidFill>
                <a:latin typeface="Microsoft YaHei"/>
                <a:ea typeface="Microsoft YaHei"/>
                <a:cs typeface="Microsoft YaHei"/>
              </a:rPr>
              <a:t>为什么是我们：</a:t>
            </a:r>
            <a:r>
              <a:rPr sz="1250" b="0">
                <a:solidFill>
                  <a:srgbClr val="CBD5E1"/>
                </a:solidFill>
                <a:latin typeface="Microsoft YaHei"/>
                <a:ea typeface="Microsoft YaHei"/>
                <a:cs typeface="Microsoft YaHei"/>
              </a:rPr>
              <a:t>领域出身 + 已经独立把完整可验证产品从 0 建到可部署 —— 不是 PPT，是能登录、能跑、能复现的真东西。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0" y="6839712"/>
            <a:ext cx="12191695" cy="18288"/>
          </a:xfrm>
          <a:prstGeom prst="rect">
            <a:avLst/>
          </a:prstGeom>
          <a:solidFill>
            <a:srgbClr val="4F46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6400800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Numetrix · 可验证数据分析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180015" y="6400800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0">
                <a:solidFill>
                  <a:srgbClr val="64748B"/>
                </a:solidFill>
                <a:latin typeface="Microsoft YaHei"/>
                <a:ea typeface="Microsoft YaHei"/>
                <a:cs typeface="Microsoft YaHei"/>
              </a:rPr>
              <a:t>21 / 21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